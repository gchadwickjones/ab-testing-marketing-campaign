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3ff26fe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3ff26fe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b3ff26fe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b3ff26fe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b3ff26fe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fb3ff26fe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b3ff26fe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b3ff26fe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b3ff26fe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b3ff26fe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b3ff26fe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fb3ff26fe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3ff26fe7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3ff26fe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b3ff26fe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fb3ff26fe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b3ff26fe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fb3ff26fe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50258" y="147275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GB" sz="4380"/>
              <a:t>A/B Testing: Does Showing Users an Advertisement Instead of a Public Service Announcement Increase Conversion?</a:t>
            </a:r>
            <a:endParaRPr sz="4380"/>
          </a:p>
        </p:txBody>
      </p:sp>
      <p:sp>
        <p:nvSpPr>
          <p:cNvPr id="55" name="Google Shape;55;p13"/>
          <p:cNvSpPr txBox="1"/>
          <p:nvPr>
            <p:ph idx="1" type="subTitle"/>
          </p:nvPr>
        </p:nvSpPr>
        <p:spPr>
          <a:xfrm>
            <a:off x="311700" y="4098400"/>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GB"/>
              <a:t>Measuring conversion impact through </a:t>
            </a:r>
            <a:r>
              <a:rPr lang="en-GB"/>
              <a:t>hypothesis</a:t>
            </a:r>
            <a:r>
              <a:rPr lang="en-GB"/>
              <a:t> testing and supportive EDA. </a:t>
            </a:r>
            <a:endParaRPr/>
          </a:p>
        </p:txBody>
      </p:sp>
      <p:sp>
        <p:nvSpPr>
          <p:cNvPr id="56" name="Google Shape;56;p13"/>
          <p:cNvSpPr txBox="1"/>
          <p:nvPr/>
        </p:nvSpPr>
        <p:spPr>
          <a:xfrm>
            <a:off x="6251000" y="81775"/>
            <a:ext cx="27873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George Chadwick-Jones</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Business Question and Objective</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The business wants to determine whether showing users an advertisement as opposed to a public service announcement (PSA) leads to more product conversions. </a:t>
            </a:r>
            <a:endParaRPr/>
          </a:p>
          <a:p>
            <a:pPr indent="0" lvl="0" marL="0" rtl="0" algn="l">
              <a:spcBef>
                <a:spcPts val="1200"/>
              </a:spcBef>
              <a:spcAft>
                <a:spcPts val="0"/>
              </a:spcAft>
              <a:buNone/>
            </a:pPr>
            <a:r>
              <a:rPr lang="en-GB"/>
              <a:t>This analysis compares users in two groups: those who are shown the </a:t>
            </a:r>
            <a:r>
              <a:rPr lang="en-GB"/>
              <a:t>advertisement</a:t>
            </a:r>
            <a:r>
              <a:rPr lang="en-GB"/>
              <a:t> (treatment group) and those who have seen the PSA (control group). </a:t>
            </a:r>
            <a:endParaRPr/>
          </a:p>
          <a:p>
            <a:pPr indent="0" lvl="0" marL="0" rtl="0" algn="l">
              <a:spcBef>
                <a:spcPts val="1200"/>
              </a:spcBef>
              <a:spcAft>
                <a:spcPts val="0"/>
              </a:spcAft>
              <a:buNone/>
            </a:pPr>
            <a:r>
              <a:rPr lang="en-GB"/>
              <a:t>The primary objective of this project is to determine whether the observed difference in conversion rate between the two groups has statistical significance, providing evidence that can support the business’s decision about what type of content to show users. </a:t>
            </a:r>
            <a:endParaRPr/>
          </a:p>
          <a:p>
            <a:pPr indent="0" lvl="0" marL="0" rtl="0" algn="l">
              <a:spcBef>
                <a:spcPts val="1200"/>
              </a:spcBef>
              <a:spcAft>
                <a:spcPts val="1200"/>
              </a:spcAft>
              <a:buNone/>
            </a:pPr>
            <a:r>
              <a:rPr lang="en-GB"/>
              <a:t>The analysis also includes </a:t>
            </a:r>
            <a:r>
              <a:rPr lang="en-GB"/>
              <a:t>secondary</a:t>
            </a:r>
            <a:r>
              <a:rPr lang="en-GB"/>
              <a:t> EDA of user behaviour, exploring how conversion rate varies with metrics </a:t>
            </a:r>
            <a:r>
              <a:rPr lang="en-GB"/>
              <a:t>such</a:t>
            </a:r>
            <a:r>
              <a:rPr lang="en-GB"/>
              <a:t> as the number of ads seen or the time of day that most ads were viewed by a user. These additional associations provide context around when and how users interact with the advertisements.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To determine whether the observed difference between the treatment group (ads) and control group (PSA) was significant, a </a:t>
            </a:r>
            <a:r>
              <a:rPr b="1" lang="en-GB"/>
              <a:t>two-proportion z-test</a:t>
            </a:r>
            <a:r>
              <a:rPr lang="en-GB"/>
              <a:t> was used as the outcome is binary and we are comparing proportions.</a:t>
            </a:r>
            <a:endParaRPr/>
          </a:p>
          <a:p>
            <a:pPr indent="0" lvl="0" marL="0" rtl="0" algn="l">
              <a:spcBef>
                <a:spcPts val="1200"/>
              </a:spcBef>
              <a:spcAft>
                <a:spcPts val="0"/>
              </a:spcAft>
              <a:buNone/>
            </a:pPr>
            <a:r>
              <a:rPr lang="en-GB"/>
              <a:t>The </a:t>
            </a:r>
            <a:r>
              <a:rPr b="1" lang="en-GB"/>
              <a:t>null hypothesis (H</a:t>
            </a:r>
            <a:r>
              <a:rPr b="1" baseline="-25000" lang="en-GB"/>
              <a:t>0</a:t>
            </a:r>
            <a:r>
              <a:rPr b="1" lang="en-GB"/>
              <a:t>) </a:t>
            </a:r>
            <a:r>
              <a:rPr lang="en-GB"/>
              <a:t>assumes that there is no difference in conversion rate between the two groups, whereas the </a:t>
            </a:r>
            <a:r>
              <a:rPr b="1" lang="en-GB"/>
              <a:t>alternative hypothesis (H</a:t>
            </a:r>
            <a:r>
              <a:rPr b="1" baseline="-25000" lang="en-GB"/>
              <a:t>1</a:t>
            </a:r>
            <a:r>
              <a:rPr b="1" lang="en-GB"/>
              <a:t>) </a:t>
            </a:r>
            <a:r>
              <a:rPr lang="en-GB"/>
              <a:t>assumes that the conversion rates are different. </a:t>
            </a:r>
            <a:endParaRPr/>
          </a:p>
          <a:p>
            <a:pPr indent="0" lvl="0" marL="0" rtl="0" algn="l">
              <a:spcBef>
                <a:spcPts val="1200"/>
              </a:spcBef>
              <a:spcAft>
                <a:spcPts val="0"/>
              </a:spcAft>
              <a:buNone/>
            </a:pPr>
            <a:r>
              <a:rPr lang="en-GB"/>
              <a:t>A significance level of </a:t>
            </a:r>
            <a:r>
              <a:rPr b="1" lang="en-GB"/>
              <a:t>α = 0.05</a:t>
            </a:r>
            <a:r>
              <a:rPr lang="en-GB"/>
              <a:t> was used. </a:t>
            </a:r>
            <a:endParaRPr/>
          </a:p>
          <a:p>
            <a:pPr indent="0" lvl="0" marL="0" rtl="0" algn="l">
              <a:spcBef>
                <a:spcPts val="1200"/>
              </a:spcBef>
              <a:spcAft>
                <a:spcPts val="1200"/>
              </a:spcAft>
              <a:buNone/>
            </a:pPr>
            <a:r>
              <a:rPr lang="en-GB"/>
              <a:t>The analysis was completed by </a:t>
            </a:r>
            <a:r>
              <a:rPr b="1" lang="en-GB"/>
              <a:t>95% confidence intervals.</a:t>
            </a:r>
            <a:endParaRPr/>
          </a:p>
        </p:txBody>
      </p:sp>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Hypothesis and Statistical Approach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Set and Experiment Groups</a:t>
            </a:r>
            <a:endParaRPr/>
          </a:p>
        </p:txBody>
      </p:sp>
      <p:sp>
        <p:nvSpPr>
          <p:cNvPr id="74" name="Google Shape;74;p16"/>
          <p:cNvSpPr txBox="1"/>
          <p:nvPr>
            <p:ph idx="1" type="body"/>
          </p:nvPr>
        </p:nvSpPr>
        <p:spPr>
          <a:xfrm>
            <a:off x="311700" y="1424950"/>
            <a:ext cx="4968900" cy="31437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GB" sz="1300"/>
              <a:t>The dataset contains </a:t>
            </a:r>
            <a:r>
              <a:rPr b="1" lang="en-GB" sz="1300"/>
              <a:t>588,101 </a:t>
            </a:r>
            <a:r>
              <a:rPr lang="en-GB" sz="1300"/>
              <a:t>users, with each observation representing an individual users and how they have interacted with the campaign. The dataset contains information on the user’s </a:t>
            </a:r>
            <a:r>
              <a:rPr lang="en-GB" sz="1300"/>
              <a:t>experimental</a:t>
            </a:r>
            <a:r>
              <a:rPr lang="en-GB" sz="1300"/>
              <a:t> group, whether they converted, the total number of ads they viewed as well as the day and hour that each user viewed the most </a:t>
            </a:r>
            <a:r>
              <a:rPr lang="en-GB" sz="1300"/>
              <a:t>advertisements</a:t>
            </a:r>
            <a:r>
              <a:rPr lang="en-GB" sz="1300"/>
              <a:t>. </a:t>
            </a:r>
            <a:endParaRPr sz="1300"/>
          </a:p>
          <a:p>
            <a:pPr indent="0" lvl="0" marL="0" rtl="0" algn="l">
              <a:lnSpc>
                <a:spcPct val="95000"/>
              </a:lnSpc>
              <a:spcBef>
                <a:spcPts val="1200"/>
              </a:spcBef>
              <a:spcAft>
                <a:spcPts val="0"/>
              </a:spcAft>
              <a:buNone/>
            </a:pPr>
            <a:r>
              <a:rPr lang="en-GB" sz="1300"/>
              <a:t>Initial data checks found no null values or duplicated observations, and each user was unique. </a:t>
            </a:r>
            <a:endParaRPr sz="1300"/>
          </a:p>
          <a:p>
            <a:pPr indent="0" lvl="0" marL="0" rtl="0" algn="l">
              <a:lnSpc>
                <a:spcPct val="95000"/>
              </a:lnSpc>
              <a:spcBef>
                <a:spcPts val="1200"/>
              </a:spcBef>
              <a:spcAft>
                <a:spcPts val="1200"/>
              </a:spcAft>
              <a:buNone/>
            </a:pPr>
            <a:r>
              <a:rPr lang="en-GB" sz="1300"/>
              <a:t>The experimental groups were highly </a:t>
            </a:r>
            <a:r>
              <a:rPr lang="en-GB" sz="1300"/>
              <a:t>imbalanced, with the </a:t>
            </a:r>
            <a:r>
              <a:rPr b="1" lang="en-GB" sz="1300"/>
              <a:t>treatment</a:t>
            </a:r>
            <a:r>
              <a:rPr lang="en-GB" sz="1300"/>
              <a:t> group (ads) having </a:t>
            </a:r>
            <a:r>
              <a:rPr b="1" lang="en-GB" sz="1300"/>
              <a:t>564,577 (96%)</a:t>
            </a:r>
            <a:r>
              <a:rPr lang="en-GB" sz="1300"/>
              <a:t> users and the </a:t>
            </a:r>
            <a:r>
              <a:rPr b="1" lang="en-GB" sz="1300"/>
              <a:t>control</a:t>
            </a:r>
            <a:r>
              <a:rPr lang="en-GB" sz="1300"/>
              <a:t> group (PSA) </a:t>
            </a:r>
            <a:r>
              <a:rPr b="1" lang="en-GB" sz="1300"/>
              <a:t>23,524 (4%)</a:t>
            </a:r>
            <a:r>
              <a:rPr lang="en-GB" sz="1300"/>
              <a:t> users. Although this imbalance is substantial, the </a:t>
            </a:r>
            <a:r>
              <a:rPr b="1" lang="en-GB" sz="1300"/>
              <a:t>control</a:t>
            </a:r>
            <a:r>
              <a:rPr lang="en-GB" sz="1300"/>
              <a:t> group still contains enough observations to conduct statistical analysis. </a:t>
            </a:r>
            <a:endParaRPr sz="1300"/>
          </a:p>
        </p:txBody>
      </p:sp>
      <p:pic>
        <p:nvPicPr>
          <p:cNvPr id="75" name="Google Shape;75;p16" title=":784512.png"/>
          <p:cNvPicPr preferRelativeResize="0"/>
          <p:nvPr/>
        </p:nvPicPr>
        <p:blipFill>
          <a:blip r:embed="rId3">
            <a:alphaModFix/>
          </a:blip>
          <a:stretch>
            <a:fillRect/>
          </a:stretch>
        </p:blipFill>
        <p:spPr>
          <a:xfrm>
            <a:off x="5391475" y="1493525"/>
            <a:ext cx="3752526" cy="3649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Conversion Rate Results</a:t>
            </a:r>
            <a:endParaRPr/>
          </a:p>
        </p:txBody>
      </p:sp>
      <p:sp>
        <p:nvSpPr>
          <p:cNvPr id="81" name="Google Shape;81;p17"/>
          <p:cNvSpPr txBox="1"/>
          <p:nvPr>
            <p:ph idx="1" type="body"/>
          </p:nvPr>
        </p:nvSpPr>
        <p:spPr>
          <a:xfrm>
            <a:off x="311700" y="1242050"/>
            <a:ext cx="4801200" cy="33345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n-GB" sz="1300"/>
              <a:t>The first comparison of the experimental groups shows a clear difference in the conversion rates. </a:t>
            </a:r>
            <a:endParaRPr sz="1300"/>
          </a:p>
          <a:p>
            <a:pPr indent="0" lvl="0" marL="0" rtl="0" algn="l">
              <a:lnSpc>
                <a:spcPct val="105000"/>
              </a:lnSpc>
              <a:spcBef>
                <a:spcPts val="1200"/>
              </a:spcBef>
              <a:spcAft>
                <a:spcPts val="0"/>
              </a:spcAft>
              <a:buNone/>
            </a:pPr>
            <a:r>
              <a:rPr lang="en-GB" sz="1300"/>
              <a:t>There is a 0.77 percentage points difference in conversion rates between users that were shown an advertisement (</a:t>
            </a:r>
            <a:r>
              <a:rPr b="1" lang="en-GB" sz="1300"/>
              <a:t>2.55%)</a:t>
            </a:r>
            <a:r>
              <a:rPr lang="en-GB" sz="1300"/>
              <a:t> compared with those who had only seen the PSA (</a:t>
            </a:r>
            <a:r>
              <a:rPr b="1" lang="en-GB" sz="1300"/>
              <a:t>1.79%)</a:t>
            </a:r>
            <a:r>
              <a:rPr lang="en-GB" sz="1300"/>
              <a:t>. </a:t>
            </a:r>
            <a:endParaRPr sz="1300"/>
          </a:p>
          <a:p>
            <a:pPr indent="0" lvl="0" marL="0" rtl="0" algn="l">
              <a:lnSpc>
                <a:spcPct val="105000"/>
              </a:lnSpc>
              <a:spcBef>
                <a:spcPts val="1200"/>
              </a:spcBef>
              <a:spcAft>
                <a:spcPts val="1200"/>
              </a:spcAft>
              <a:buNone/>
            </a:pPr>
            <a:r>
              <a:rPr lang="en-GB" sz="1300"/>
              <a:t>The results give initial evidence that viewing the advertisement results in a higher chance of the user converting. However, it is not clear whether this result is a </a:t>
            </a:r>
            <a:r>
              <a:rPr lang="en-GB" sz="1300"/>
              <a:t>consequence</a:t>
            </a:r>
            <a:r>
              <a:rPr lang="en-GB" sz="1300"/>
              <a:t> of normal variations in the data or if it has </a:t>
            </a:r>
            <a:r>
              <a:rPr lang="en-GB" sz="1300"/>
              <a:t>statistical</a:t>
            </a:r>
            <a:r>
              <a:rPr lang="en-GB" sz="1300"/>
              <a:t> significance, so a hypothesis test is required to see if there is a genuine difference between the two groups. </a:t>
            </a:r>
            <a:endParaRPr sz="1300"/>
          </a:p>
        </p:txBody>
      </p:sp>
      <p:pic>
        <p:nvPicPr>
          <p:cNvPr id="82" name="Google Shape;82;p17" title="7846532.png"/>
          <p:cNvPicPr preferRelativeResize="0"/>
          <p:nvPr/>
        </p:nvPicPr>
        <p:blipFill>
          <a:blip r:embed="rId3">
            <a:alphaModFix/>
          </a:blip>
          <a:stretch>
            <a:fillRect/>
          </a:stretch>
        </p:blipFill>
        <p:spPr>
          <a:xfrm>
            <a:off x="5279111" y="1242050"/>
            <a:ext cx="3864890" cy="3901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Statistical Significance</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GB" sz="1600"/>
              <a:t>The hypothesis test provided strong statistical evidence that the conversion rates differ between the </a:t>
            </a:r>
            <a:r>
              <a:rPr b="1" lang="en-GB" sz="1600"/>
              <a:t>treatment group</a:t>
            </a:r>
            <a:r>
              <a:rPr lang="en-GB" sz="1600"/>
              <a:t> (ads) and the </a:t>
            </a:r>
            <a:r>
              <a:rPr b="1" lang="en-GB" sz="1600"/>
              <a:t>control group</a:t>
            </a:r>
            <a:r>
              <a:rPr lang="en-GB" sz="1600"/>
              <a:t> (PSA). </a:t>
            </a:r>
            <a:endParaRPr sz="1600"/>
          </a:p>
          <a:p>
            <a:pPr indent="0" lvl="0" marL="0" rtl="0" algn="l">
              <a:lnSpc>
                <a:spcPct val="95000"/>
              </a:lnSpc>
              <a:spcBef>
                <a:spcPts val="1200"/>
              </a:spcBef>
              <a:spcAft>
                <a:spcPts val="0"/>
              </a:spcAft>
              <a:buNone/>
            </a:pPr>
            <a:r>
              <a:rPr lang="en-GB" sz="1600"/>
              <a:t>The test produced a z-statistic of 7.37 and a p-value of 1.71x10</a:t>
            </a:r>
            <a:r>
              <a:rPr baseline="30000" lang="en-GB" sz="1600"/>
              <a:t>-13</a:t>
            </a:r>
            <a:r>
              <a:rPr lang="en-GB" sz="1600"/>
              <a:t>, which is far, far below the significance threshold of 0.05. We can therefore reject the null hypothesis. </a:t>
            </a:r>
            <a:endParaRPr sz="1600"/>
          </a:p>
          <a:p>
            <a:pPr indent="0" lvl="0" marL="0" rtl="0" algn="l">
              <a:lnSpc>
                <a:spcPct val="95000"/>
              </a:lnSpc>
              <a:spcBef>
                <a:spcPts val="1200"/>
              </a:spcBef>
              <a:spcAft>
                <a:spcPts val="0"/>
              </a:spcAft>
              <a:buNone/>
            </a:pPr>
            <a:r>
              <a:rPr lang="en-GB" sz="1600"/>
              <a:t>The 95% </a:t>
            </a:r>
            <a:r>
              <a:rPr lang="en-GB" sz="1600"/>
              <a:t>confidence</a:t>
            </a:r>
            <a:r>
              <a:rPr lang="en-GB" sz="1600"/>
              <a:t> interval is </a:t>
            </a:r>
            <a:r>
              <a:rPr b="1" lang="en-GB" sz="1600"/>
              <a:t>0.60</a:t>
            </a:r>
            <a:r>
              <a:rPr lang="en-GB" sz="1600"/>
              <a:t> to </a:t>
            </a:r>
            <a:r>
              <a:rPr b="1" lang="en-GB" sz="1600"/>
              <a:t>0.94</a:t>
            </a:r>
            <a:r>
              <a:rPr lang="en-GB" sz="1600"/>
              <a:t> percentage points. As the results are entirely above 0, they consistently indicate a higher conversion across the </a:t>
            </a:r>
            <a:r>
              <a:rPr b="1" lang="en-GB" sz="1600"/>
              <a:t>treatment</a:t>
            </a:r>
            <a:r>
              <a:rPr lang="en-GB" sz="1600"/>
              <a:t> group.</a:t>
            </a:r>
            <a:endParaRPr sz="1600"/>
          </a:p>
          <a:p>
            <a:pPr indent="0" lvl="0" marL="0" rtl="0" algn="l">
              <a:lnSpc>
                <a:spcPct val="95000"/>
              </a:lnSpc>
              <a:spcBef>
                <a:spcPts val="1200"/>
              </a:spcBef>
              <a:spcAft>
                <a:spcPts val="1200"/>
              </a:spcAft>
              <a:buNone/>
            </a:pPr>
            <a:r>
              <a:rPr lang="en-GB" sz="1600"/>
              <a:t>The hypothesis test therefore proves that the results are statistically significant as opposed to being from random variation alone. </a:t>
            </a:r>
            <a:endParaRPr sz="1600"/>
          </a:p>
        </p:txBody>
      </p:sp>
      <p:pic>
        <p:nvPicPr>
          <p:cNvPr id="89" name="Google Shape;89;p18" title="conversion_rate_confidence_interval.png"/>
          <p:cNvPicPr preferRelativeResize="0"/>
          <p:nvPr/>
        </p:nvPicPr>
        <p:blipFill>
          <a:blip r:embed="rId3">
            <a:alphaModFix/>
          </a:blip>
          <a:stretch>
            <a:fillRect/>
          </a:stretch>
        </p:blipFill>
        <p:spPr>
          <a:xfrm>
            <a:off x="4526675" y="3558551"/>
            <a:ext cx="4617324" cy="1584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Effect Size and Business Significance</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GB"/>
              <a:t>Although the hypothesis testing showed a clear statistical difference between the two groups, it is important to also consider that difference from a business perspective.  </a:t>
            </a:r>
            <a:endParaRPr/>
          </a:p>
          <a:p>
            <a:pPr indent="0" lvl="0" marL="0" rtl="0" algn="l">
              <a:spcBef>
                <a:spcPts val="1200"/>
              </a:spcBef>
              <a:spcAft>
                <a:spcPts val="0"/>
              </a:spcAft>
              <a:buNone/>
            </a:pPr>
            <a:r>
              <a:rPr lang="en-GB"/>
              <a:t>The advertisement group achieved a </a:t>
            </a:r>
            <a:r>
              <a:rPr b="1" lang="en-GB"/>
              <a:t>2.55%</a:t>
            </a:r>
            <a:r>
              <a:rPr lang="en-GB"/>
              <a:t> conversion rate, compared with </a:t>
            </a:r>
            <a:r>
              <a:rPr b="1" lang="en-GB"/>
              <a:t>1.79%</a:t>
            </a:r>
            <a:r>
              <a:rPr lang="en-GB"/>
              <a:t> for the PSA group. This represents an absolute increase of </a:t>
            </a:r>
            <a:r>
              <a:rPr b="1" lang="en-GB"/>
              <a:t>0.77</a:t>
            </a:r>
            <a:r>
              <a:rPr lang="en-GB"/>
              <a:t> percentage points, equivalent to a </a:t>
            </a:r>
            <a:r>
              <a:rPr b="1" lang="en-GB"/>
              <a:t>43.1%</a:t>
            </a:r>
            <a:r>
              <a:rPr lang="en-GB"/>
              <a:t> relative lift in conversion.</a:t>
            </a:r>
            <a:endParaRPr/>
          </a:p>
          <a:p>
            <a:pPr indent="0" lvl="0" marL="0" rtl="0" algn="l">
              <a:spcBef>
                <a:spcPts val="1200"/>
              </a:spcBef>
              <a:spcAft>
                <a:spcPts val="1200"/>
              </a:spcAft>
              <a:buNone/>
            </a:pPr>
            <a:r>
              <a:rPr lang="en-GB"/>
              <a:t>The relative lift shows that the proportionally speaking the advertisement group performed significantly better than the PSA group. However, it is important to think of this difference in real-terms. The absolute increase is less than 1 additional conversion per 100 users, so the practical value depends on factors such as individual purchase cost, the cost of the campaign as well as the size of the customer base.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Secondary Analysis: Advertisement Exposure</a:t>
            </a:r>
            <a:endParaRPr/>
          </a:p>
        </p:txBody>
      </p:sp>
      <p:sp>
        <p:nvSpPr>
          <p:cNvPr id="101" name="Google Shape;101;p20"/>
          <p:cNvSpPr txBox="1"/>
          <p:nvPr>
            <p:ph idx="1" type="body"/>
          </p:nvPr>
        </p:nvSpPr>
        <p:spPr>
          <a:xfrm>
            <a:off x="0" y="1439788"/>
            <a:ext cx="5609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1018"/>
              <a:buNone/>
            </a:pPr>
            <a:r>
              <a:rPr lang="en-GB" sz="1165"/>
              <a:t>The first part of the secondary supportive analysis focussed on whether conversion rates varied based on the number of advertisements that a user has been exposed to. </a:t>
            </a:r>
            <a:endParaRPr sz="1165"/>
          </a:p>
          <a:p>
            <a:pPr indent="0" lvl="0" marL="0" rtl="0" algn="l">
              <a:spcBef>
                <a:spcPts val="1200"/>
              </a:spcBef>
              <a:spcAft>
                <a:spcPts val="0"/>
              </a:spcAft>
              <a:buSzPts val="1018"/>
              <a:buNone/>
            </a:pPr>
            <a:r>
              <a:rPr lang="en-GB" sz="1165"/>
              <a:t>There was a clear positive association between the number of advertisements a user viewed and their chance of converting. Conversion increased from </a:t>
            </a:r>
            <a:r>
              <a:rPr b="1" lang="en-GB" sz="1165"/>
              <a:t>0.33%</a:t>
            </a:r>
            <a:r>
              <a:rPr lang="en-GB" sz="1165"/>
              <a:t> among users who saw </a:t>
            </a:r>
            <a:r>
              <a:rPr b="1" lang="en-GB" sz="1165"/>
              <a:t>0–10</a:t>
            </a:r>
            <a:r>
              <a:rPr lang="en-GB" sz="1165"/>
              <a:t> advertisements to </a:t>
            </a:r>
            <a:r>
              <a:rPr b="1" lang="en-GB" sz="1165"/>
              <a:t>16.68%</a:t>
            </a:r>
            <a:r>
              <a:rPr lang="en-GB" sz="1165"/>
              <a:t> among users who saw 80–160 advertisements. The </a:t>
            </a:r>
            <a:r>
              <a:rPr b="1" lang="en-GB" sz="1165"/>
              <a:t>160+</a:t>
            </a:r>
            <a:r>
              <a:rPr lang="en-GB" sz="1165"/>
              <a:t> group showed a slight decline to </a:t>
            </a:r>
            <a:r>
              <a:rPr b="1" lang="en-GB" sz="1165"/>
              <a:t>15.79%</a:t>
            </a:r>
            <a:r>
              <a:rPr lang="en-GB" sz="1165"/>
              <a:t>, but this is still well above the conversion rate of those who had seen relatively fewer advertisements. </a:t>
            </a:r>
            <a:endParaRPr sz="1165"/>
          </a:p>
          <a:p>
            <a:pPr indent="0" lvl="0" marL="0" rtl="0" algn="l">
              <a:spcBef>
                <a:spcPts val="1200"/>
              </a:spcBef>
              <a:spcAft>
                <a:spcPts val="1200"/>
              </a:spcAft>
              <a:buSzPts val="1018"/>
              <a:buNone/>
            </a:pPr>
            <a:r>
              <a:rPr lang="en-GB" sz="1165"/>
              <a:t>However, these results are observational only and cannot be used to imply causation. There are also confounding variables such as users who are already likely to convert may have been more likely to view and engage with the advertisement. </a:t>
            </a:r>
            <a:endParaRPr sz="1165"/>
          </a:p>
        </p:txBody>
      </p:sp>
      <p:pic>
        <p:nvPicPr>
          <p:cNvPr id="102" name="Google Shape;102;p20" title="84755487.png"/>
          <p:cNvPicPr preferRelativeResize="0"/>
          <p:nvPr/>
        </p:nvPicPr>
        <p:blipFill>
          <a:blip r:embed="rId3">
            <a:alphaModFix/>
          </a:blip>
          <a:stretch>
            <a:fillRect/>
          </a:stretch>
        </p:blipFill>
        <p:spPr>
          <a:xfrm>
            <a:off x="5810232" y="1152475"/>
            <a:ext cx="3333768" cy="3991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GB" sz="2420"/>
              <a:t>Secondary Analysis: Timing Patterns</a:t>
            </a:r>
            <a:endParaRPr sz="2420"/>
          </a:p>
        </p:txBody>
      </p:sp>
      <p:sp>
        <p:nvSpPr>
          <p:cNvPr id="108" name="Google Shape;108;p21"/>
          <p:cNvSpPr txBox="1"/>
          <p:nvPr>
            <p:ph idx="1" type="body"/>
          </p:nvPr>
        </p:nvSpPr>
        <p:spPr>
          <a:xfrm>
            <a:off x="311700" y="572700"/>
            <a:ext cx="8520600" cy="29547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SzPts val="1018"/>
              <a:buNone/>
            </a:pPr>
            <a:r>
              <a:rPr lang="en-GB" sz="1165"/>
              <a:t>The secondary analysis also examined whether conversion rates differed based on both the time of day and day of the week that users engaged with the most advertisements. </a:t>
            </a:r>
            <a:endParaRPr sz="1165"/>
          </a:p>
          <a:p>
            <a:pPr indent="0" lvl="0" marL="0" rtl="0" algn="l">
              <a:lnSpc>
                <a:spcPct val="105000"/>
              </a:lnSpc>
              <a:spcBef>
                <a:spcPts val="1200"/>
              </a:spcBef>
              <a:spcAft>
                <a:spcPts val="0"/>
              </a:spcAft>
              <a:buSzPts val="1018"/>
              <a:buNone/>
            </a:pPr>
            <a:r>
              <a:rPr lang="en-GB" sz="1165"/>
              <a:t>Conversion rates showed some fluctuation across the days of the week, with </a:t>
            </a:r>
            <a:r>
              <a:rPr b="1" lang="en-GB" sz="1165"/>
              <a:t>Monday</a:t>
            </a:r>
            <a:r>
              <a:rPr lang="en-GB" sz="1165"/>
              <a:t> recording the highest conversion rate at </a:t>
            </a:r>
            <a:r>
              <a:rPr b="1" lang="en-GB" sz="1165"/>
              <a:t>3.28%, </a:t>
            </a:r>
            <a:r>
              <a:rPr lang="en-GB" sz="1165"/>
              <a:t>and </a:t>
            </a:r>
            <a:r>
              <a:rPr b="1" lang="en-GB" sz="1165"/>
              <a:t>Saturday</a:t>
            </a:r>
            <a:r>
              <a:rPr lang="en-GB" sz="1165"/>
              <a:t> recording the lowest at </a:t>
            </a:r>
            <a:r>
              <a:rPr b="1" lang="en-GB" sz="1165"/>
              <a:t>2.11%</a:t>
            </a:r>
            <a:r>
              <a:rPr lang="en-GB" sz="1165"/>
              <a:t>. </a:t>
            </a:r>
            <a:endParaRPr sz="1165"/>
          </a:p>
          <a:p>
            <a:pPr indent="0" lvl="0" marL="0" rtl="0" algn="l">
              <a:lnSpc>
                <a:spcPct val="105000"/>
              </a:lnSpc>
              <a:spcBef>
                <a:spcPts val="1200"/>
              </a:spcBef>
              <a:spcAft>
                <a:spcPts val="0"/>
              </a:spcAft>
              <a:buSzPts val="1018"/>
              <a:buNone/>
            </a:pPr>
            <a:r>
              <a:rPr lang="en-GB" sz="1165"/>
              <a:t>There was also noticeable variation across the hours of the day, ranging from </a:t>
            </a:r>
            <a:r>
              <a:rPr b="1" lang="en-GB" sz="1165"/>
              <a:t>0.73%</a:t>
            </a:r>
            <a:r>
              <a:rPr lang="en-GB" sz="1165"/>
              <a:t> at </a:t>
            </a:r>
            <a:r>
              <a:rPr b="1" lang="en-GB" sz="1165"/>
              <a:t>02:00</a:t>
            </a:r>
            <a:r>
              <a:rPr lang="en-GB" sz="1165"/>
              <a:t> to </a:t>
            </a:r>
            <a:r>
              <a:rPr b="1" lang="en-GB" sz="1165"/>
              <a:t>3.08%</a:t>
            </a:r>
            <a:r>
              <a:rPr lang="en-GB" sz="1165"/>
              <a:t> at </a:t>
            </a:r>
            <a:r>
              <a:rPr b="1" lang="en-GB" sz="1165"/>
              <a:t>16:00</a:t>
            </a:r>
            <a:r>
              <a:rPr lang="en-GB" sz="1165"/>
              <a:t>.</a:t>
            </a:r>
            <a:endParaRPr sz="1165"/>
          </a:p>
          <a:p>
            <a:pPr indent="0" lvl="0" marL="0" rtl="0" algn="l">
              <a:lnSpc>
                <a:spcPct val="105000"/>
              </a:lnSpc>
              <a:spcBef>
                <a:spcPts val="1200"/>
              </a:spcBef>
              <a:spcAft>
                <a:spcPts val="1200"/>
              </a:spcAft>
              <a:buSzPts val="1018"/>
              <a:buNone/>
            </a:pPr>
            <a:r>
              <a:rPr lang="en-GB" sz="1165"/>
              <a:t>These associations give useful context around user behaviour, but the differences were not individually tested for statistical significance so they should not be treated as causation.</a:t>
            </a:r>
            <a:endParaRPr sz="1165"/>
          </a:p>
        </p:txBody>
      </p:sp>
      <p:pic>
        <p:nvPicPr>
          <p:cNvPr id="109" name="Google Shape;109;p21" title="1.png"/>
          <p:cNvPicPr preferRelativeResize="0"/>
          <p:nvPr/>
        </p:nvPicPr>
        <p:blipFill>
          <a:blip r:embed="rId3">
            <a:alphaModFix/>
          </a:blip>
          <a:stretch>
            <a:fillRect/>
          </a:stretch>
        </p:blipFill>
        <p:spPr>
          <a:xfrm>
            <a:off x="0" y="2453425"/>
            <a:ext cx="2255525" cy="2690075"/>
          </a:xfrm>
          <a:prstGeom prst="rect">
            <a:avLst/>
          </a:prstGeom>
          <a:noFill/>
          <a:ln>
            <a:noFill/>
          </a:ln>
        </p:spPr>
      </p:pic>
      <p:pic>
        <p:nvPicPr>
          <p:cNvPr id="110" name="Google Shape;110;p21" title="2.png"/>
          <p:cNvPicPr preferRelativeResize="0"/>
          <p:nvPr/>
        </p:nvPicPr>
        <p:blipFill>
          <a:blip r:embed="rId4">
            <a:alphaModFix/>
          </a:blip>
          <a:stretch>
            <a:fillRect/>
          </a:stretch>
        </p:blipFill>
        <p:spPr>
          <a:xfrm>
            <a:off x="6888475" y="2454743"/>
            <a:ext cx="2255525" cy="268744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Limitations</a:t>
            </a:r>
            <a:endParaRPr/>
          </a:p>
        </p:txBody>
      </p:sp>
      <p:sp>
        <p:nvSpPr>
          <p:cNvPr id="116" name="Google Shape;116;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The experimental groups were highly </a:t>
            </a:r>
            <a:r>
              <a:rPr lang="en-GB"/>
              <a:t>imbalanced, with </a:t>
            </a:r>
            <a:r>
              <a:rPr b="1" lang="en-GB"/>
              <a:t>96%</a:t>
            </a:r>
            <a:r>
              <a:rPr lang="en-GB"/>
              <a:t> of the users in the </a:t>
            </a:r>
            <a:r>
              <a:rPr b="1" lang="en-GB"/>
              <a:t>advertisement group</a:t>
            </a:r>
            <a:r>
              <a:rPr lang="en-GB"/>
              <a:t> and only </a:t>
            </a:r>
            <a:r>
              <a:rPr b="1" lang="en-GB"/>
              <a:t>4%</a:t>
            </a:r>
            <a:r>
              <a:rPr lang="en-GB"/>
              <a:t> in the </a:t>
            </a:r>
            <a:r>
              <a:rPr b="1" lang="en-GB"/>
              <a:t>PSA</a:t>
            </a:r>
            <a:r>
              <a:rPr lang="en-GB"/>
              <a:t> group.</a:t>
            </a:r>
            <a:endParaRPr/>
          </a:p>
          <a:p>
            <a:pPr indent="-342900" lvl="0" marL="457200" rtl="0" algn="l">
              <a:spcBef>
                <a:spcPts val="0"/>
              </a:spcBef>
              <a:spcAft>
                <a:spcPts val="0"/>
              </a:spcAft>
              <a:buSzPts val="1800"/>
              <a:buChar char="●"/>
            </a:pPr>
            <a:r>
              <a:rPr lang="en-GB"/>
              <a:t>The dataset does not provide information on group assignment. The result can therefore only be interpreted as being causal if the original experient genuinely used random assignment. </a:t>
            </a:r>
            <a:endParaRPr/>
          </a:p>
          <a:p>
            <a:pPr indent="-342900" lvl="0" marL="457200" rtl="0" algn="l">
              <a:spcBef>
                <a:spcPts val="0"/>
              </a:spcBef>
              <a:spcAft>
                <a:spcPts val="0"/>
              </a:spcAft>
              <a:buSzPts val="1800"/>
              <a:buChar char="●"/>
            </a:pPr>
            <a:r>
              <a:rPr lang="en-GB"/>
              <a:t>The supporting secondary analysis is observational and does not establish causation.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